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1525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DEF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52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B9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v1 baseline</c:v>
                  </c:pt>
                  <c:pt idx="1">
                    <c:v>v1 adversarial</c:v>
                  </c:pt>
                  <c:pt idx="2">
                    <c:v>v2 fresh adversarial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0.824</c:v>
                </c:pt>
                <c:pt idx="1">
                  <c:v>0.2555</c:v>
                </c:pt>
                <c:pt idx="2">
                  <c:v>0.9998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300" u="none">
                  <a:solidFill>
                    <a:srgbClr val="EDEF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DEF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2A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B2E"/>
        </a:solidFill>
        <a:ln>
          <a:noFill/>
        </a:ln>
        <a:effectLst/>
      </c:spPr>
    </c:plotArea>
    <c:plotVisOnly val="1"/>
    <c:dispBlanksAs val="span"/>
  </c:chart>
  <c:spPr>
    <a:solidFill>
      <a:srgbClr val="121B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SNR (dB)</c:v>
                </c:pt>
              </c:strCache>
            </c:strRef>
          </c:tx>
          <c:spPr>
            <a:solidFill>
              <a:srgbClr val="3FB9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EDEF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B9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525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Real video</c:v>
                  </c:pt>
                  <c:pt idx="1">
                    <c:v>Fake video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8.35</c:v>
                </c:pt>
                <c:pt idx="1">
                  <c:v>4.88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EDEF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DEF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B2E"/>
        </a:solidFill>
        <a:ln>
          <a:noFill/>
        </a:ln>
        <a:effectLst/>
      </c:spPr>
    </c:plotArea>
    <c:plotVisOnly val="1"/>
    <c:dispBlanksAs val="span"/>
  </c:chart>
  <c:spPr>
    <a:solidFill>
      <a:srgbClr val="121B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FB98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DEF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B9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52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Clean</c:v>
                  </c:pt>
                  <c:pt idx="1">
                    <c:v>Poisoned</c:v>
                  </c:pt>
                  <c:pt idx="2">
                    <c:v>Defended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0.7643</c:v>
                </c:pt>
                <c:pt idx="1">
                  <c:v>0.7338</c:v>
                </c:pt>
                <c:pt idx="2">
                  <c:v>0.7459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300" u="none">
                  <a:solidFill>
                    <a:srgbClr val="EDEF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DEF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6"/>
        </c:scaling>
        <c:delete val="0"/>
        <c:axPos val="l"/>
        <c:majorGridlines>
          <c:spPr>
            <a:ln w="9525" cap="flat">
              <a:solidFill>
                <a:srgbClr val="2A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B2E"/>
        </a:solidFill>
        <a:ln>
          <a:noFill/>
        </a:ln>
        <a:effectLst/>
      </c:spPr>
    </c:plotArea>
    <c:plotVisOnly val="1"/>
    <c:dispBlanksAs val="span"/>
  </c:chart>
  <c:spPr>
    <a:solidFill>
      <a:srgbClr val="12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DEFENSE LAB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PAYMENT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Innovation Challenge 2026 — Global Fintech Fest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→ Generate → Defend, across four distinct GenAI-powered payment fraud attack surfaces. Every result in this deck is from a verified, logged run — not a projection.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Fraud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Agentic-Commerce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 Identity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5321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544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Poisoning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closed loop, four attack surfaces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submissions will build one fraud classifier. We built a system that owns identify → generate → defend across four structurally different attacks, and feeds every miss back into retraining.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 across 4 tracks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0" y="28803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160520" y="24688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data, agents, deepfakes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288036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498080" y="24688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266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Classifiers, gate, detectors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1A2440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3434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Missed attacks feed back into training — the loop is what separates this from a one-shot classifier, and it's what the brief explicitly rewards.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504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Fraud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833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→ 1.0 recall, closed loop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5257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5504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Agentic-Commerce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66160" y="5833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 injections blocked, real LLM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5257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5504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 Identity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5833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fooled 99.998%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5257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2560" y="55046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Poisoning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52560" y="58338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63.8% poison caught, 0 false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CLASSIC TRANSACTION FRAUD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GenAI-crafted evasion vs. a self-healing classifier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blended toward the legitimate population's distribution to evade a naively-trained model — then fed back as hard examples to retrain it. Real IEEE-CIS Fraud Detection dataset, 51 engineered features.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classifiers fail against GenAI-disguised fraud — the challenge's own opening premise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2336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held-out fraud toward legit distribution (card fingerprint, address, velocity, verification-match features)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519379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v1 → measure evasion → retrain v2 on missed examples → re-evaluate on a FRESH attack batch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5087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ADVERSARIAL FRAUD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537960" y="2148840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629400" y="5257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4,615 missed adversarial examples fed back into training between v1 and v2. v2's recovery is measured on a FRESH batch — it learned the disguise pattern, not just those specific rows.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· AGENTIC-COMMERCE MANDATE HIJACK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Mandate injection against an AI shopping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Mastercard's own Agent Pay Acceptance Framework (piloted with PayPal, AP2-compatible). A shopper agent — real local LLM, not scripted — reads a listing and issues a payment mandate. The listing text is the injection surface.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78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REDIRECT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52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SKU_HP_001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pipeline: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$349.99 → EVIL_DROPSHIP_942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3A1E2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1636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42616" y="3977640"/>
            <a:ext cx="2130552" cy="292608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3977640"/>
            <a:ext cx="2130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BLOCK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423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5786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AMOUNT-ONLY INFLATION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2852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SKU_WATCH_002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pipeline: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$499.00 (expected $89.50)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977640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3A1E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977640"/>
            <a:ext cx="1636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3977640"/>
            <a:ext cx="2130552" cy="292608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977640"/>
            <a:ext cx="2130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BLOCK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A2440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GATE — THREE CHECKS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5074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Evidence-decision consistency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50749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both attacks — this is the check that actually holds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394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marker scan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53949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both — pattern-matching alone is beatable, said plainly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715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Rule-of-two checkpoint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77640" y="57150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content-based — can't be prompted around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· DEEPFAKE IDENTITY FRAUD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clone vishing + video KYC bypass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synthetic voice (XTTS-v2) and video (SadTalker) attacks, tested against a pretrained audio detector and a from-scratch physiological video detector.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9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DETECTOR — PRETRAINED, ZERO FINE-TUNING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1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"real" confidence given to 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attack audio — total evasion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MelodyMachine/Deepfake-audio-detection-V2 (HuggingFace)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359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DETECTOR — CUSTOM rPPG, OWN IMPLEMENTATION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55080" y="2697480"/>
          <a:ext cx="507492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440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480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finding, not a failure: total evasion of a pretrained detector is direct evidence of attack fidelity — and direct justification for closed-loop, continuously-retrained defense over a static checkpoint.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2440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5778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limitation: DeepFakesON-Phys (the published rPPG reference) never released weights or training code — open GitHub issue since 2020. We built our own from the same principle instead of depending on a checkpoint that doesn't exist.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· FEEDBACK-LOOP POISONING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Attacking the defense's own retraining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evading the fraud model, this attacks the label stream it retrains on — silent fraud auto-labeled 'legit' because no chargeback was filed. The meta-track: we red-team our own Track A closed loop.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A2440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AUC barely moves (0.936 → 0.933 → 0.936) across all three scenarios. Damage is only visible measuring recall INSIDE the attacker's region — a dashboard watching only aggregate metrics never sees this attack.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RESULTS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— dispute flooding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4617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299/300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965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— silent fraud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4965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A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275/600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3126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wrongly quarantined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53126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6060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BLIND-SPOT RECALL</a:t>
            </a:r>
            <a:endParaRPr lang="en-US" sz="10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55080" y="3063240"/>
          <a:ext cx="50749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A2440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60167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negative result: the textbook defense (leave-cluster-out validation) caught ZERO poison — a validation-set-based screen only sees poison in regions the validation set covers. Disagreement-screening exists because of this finding.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that computes, not just displays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'Run live' button below calls a real FastAPI backend that recomputes fresh — different random seed each time, real Ollama calls, real model inference. Nothing is cached or canned.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87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A / 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79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+ poisoning cycles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2615184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615184"/>
            <a:ext cx="978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4768" y="2615184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seed, real retrain, ~1-3 sec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941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Reasoning Gate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3529584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529584"/>
            <a:ext cx="978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3529584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Ollama qwen3:8b call, ~2-5 sec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15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C detect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608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rPPG video detectors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4443984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4443984"/>
            <a:ext cx="978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4443984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inference on generated media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2303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C generate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5229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clone + video deepfake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5358384"/>
            <a:ext cx="2295144" cy="292608"/>
          </a:xfrm>
          <a:prstGeom prst="roundRect">
            <a:avLst>
              <a:gd name="adj" fmla="val 50000"/>
            </a:avLst>
          </a:prstGeom>
          <a:solidFill>
            <a:srgbClr val="3A2E1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5358384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61504" y="5358384"/>
            <a:ext cx="4059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GPU-bound (minutes) — same constraint every team has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honest about hardware constraints, live wherever compute time allows it. Reliability in front of judges matters more than live-compute theater.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against live industry direction, not a hypothetical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B ↔ Mastercard Agent Pay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Mastercard's own Agent Pay Acceptance Framework (piloted with PayPal) is AP2-compatible — the mandate-injection attack surface we built against is the same one Mastercard is actively hardening right now.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260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Blast-radius framing, not overclaiming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 shows adaptive prompt-injection attacks bypass most deployed defenses. We frame the Reasoning Gate as risk-reduction, not a guarantee — the credible claim to a technical reviewer.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provenance is deployable 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disagreement-screening defense (Track D) needs no new infrastructure — just tagging existing feedback by source and re-scoring against the pre-update model, both already standard in most retraining pipelines.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035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Closed-loop retraining as the throughline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tracks converge on the same operational pattern: log what the defense misses, feed it back, re-evaluate on fresh attacks. One architecture, four attack surfaces — not four disconnected demos.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Mapped directly to the judging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Diversity of attacks identified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81051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tracks × distinct attack families — transaction evasion, mandate injection, voice/video deepfake, label-stream poisoning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706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Fidelity of attacks in simulation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27706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KS/PSI statistical fidelity (Track A); pretrained detector evasion at 99.998% (Track C)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307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algorithm efficacy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373075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Precision/recall/F1/AUC + FP-rate reported for every track, on real IEEE-CIS data and real model inference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9087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 of the solution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469087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targets Mastercard's own emerging Agent Pay surface; Track D is a self-referential attack on our own closed loop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6509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feasibility in live payments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0" y="565099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Blast-radius framing over overclaiming; label-provenance defense deployable without new infrastructure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F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this deck is reproducible.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repository, Colab notebook, and live web prototype all included — no result here was hand-picked or staged.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10332720" cy="2331720"/>
          </a:xfrm>
          <a:prstGeom prst="roundRect">
            <a:avLst>
              <a:gd name="adj" fmla="val 3137"/>
            </a:avLst>
          </a:prstGeom>
          <a:solidFill>
            <a:srgbClr val="121B2E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11480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github.com/dpgaharwal/mastercard-defense-lab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828032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PROTOTYPE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510235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web/frontend/index.html — open directly, or run web/backend for live mode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5541264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NOTEBOOK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581558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generate/track_c_deepfake/track_c_colab.ipynb (Colab, T4 GPU)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 Lab for Payment Security — Mastercard Innovation Challenge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2026-08-22T07:15:45Z</dcterms:created>
  <dcterms:modified xsi:type="dcterms:W3CDTF">2026-08-22T07:15:45Z</dcterms:modified>
</cp:coreProperties>
</file>